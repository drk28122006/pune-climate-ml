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6f8025bcc048a8" /><Relationship Type="http://schemas.openxmlformats.org/officeDocument/2006/relationships/extended-properties" Target="/docProps/app.xml" Id="R1650d046e5944be5" /><Relationship Type="http://schemas.openxmlformats.org/officeDocument/2006/relationships/officeDocument" Target="/ppt/presentation.xml" Id="R927cad1f00394d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065da3d15d4de1"/>
  </p:sldMasterIdLst>
  <p:notesMasterIdLst>
    <p:notesMasterId xmlns:r="http://schemas.openxmlformats.org/officeDocument/2006/relationships" r:id="R1f2ccb8c4fe14a04"/>
  </p:notesMasterIdLst>
  <p:sldIdLst>
    <p:sldId xmlns:r="http://schemas.openxmlformats.org/officeDocument/2006/relationships" id="256" r:id="R8a1566fc15434488"/>
    <p:sldId xmlns:r="http://schemas.openxmlformats.org/officeDocument/2006/relationships" id="257" r:id="R481ecac1fdaa4781"/>
    <p:sldId xmlns:r="http://schemas.openxmlformats.org/officeDocument/2006/relationships" id="258" r:id="Rd690b0e54a064dc6"/>
    <p:sldId xmlns:r="http://schemas.openxmlformats.org/officeDocument/2006/relationships" id="259" r:id="Re7d265ba8a4449aa"/>
    <p:sldId xmlns:r="http://schemas.openxmlformats.org/officeDocument/2006/relationships" id="260" r:id="R44f074db16b24e75"/>
    <p:sldId xmlns:r="http://schemas.openxmlformats.org/officeDocument/2006/relationships" id="261" r:id="R9e2cac5eca3b40e8"/>
    <p:sldId xmlns:r="http://schemas.openxmlformats.org/officeDocument/2006/relationships" id="262" r:id="Racc16732ee3a4949"/>
    <p:sldId xmlns:r="http://schemas.openxmlformats.org/officeDocument/2006/relationships" id="263" r:id="R03ee8322585046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77bae837d14751" /><Relationship Type="http://schemas.openxmlformats.org/officeDocument/2006/relationships/slideMaster" Target="/ppt/slideMasters/slideMaster1.xml" Id="Rd1065da3d15d4de1" /><Relationship Type="http://schemas.openxmlformats.org/officeDocument/2006/relationships/notesMaster" Target="/ppt/notesMasters/notesMaster1.xml" Id="R1f2ccb8c4fe14a04" /><Relationship Type="http://schemas.openxmlformats.org/officeDocument/2006/relationships/presProps" Target="/ppt/presProps.xml" Id="Re7d3911c46b74f2c" /><Relationship Type="http://schemas.openxmlformats.org/officeDocument/2006/relationships/tableStyles" Target="/ppt/tableStyles.xml" Id="R503a6a9c113a4a3a" /><Relationship Type="http://schemas.openxmlformats.org/officeDocument/2006/relationships/slide" Target="/ppt/slides/slide1.xml" Id="R8a1566fc15434488" /><Relationship Type="http://schemas.openxmlformats.org/officeDocument/2006/relationships/slide" Target="/ppt/slides/slide2.xml" Id="R481ecac1fdaa4781" /><Relationship Type="http://schemas.openxmlformats.org/officeDocument/2006/relationships/slide" Target="/ppt/slides/slide3.xml" Id="Rd690b0e54a064dc6" /><Relationship Type="http://schemas.openxmlformats.org/officeDocument/2006/relationships/slide" Target="/ppt/slides/slide4.xml" Id="Re7d265ba8a4449aa" /><Relationship Type="http://schemas.openxmlformats.org/officeDocument/2006/relationships/slide" Target="/ppt/slides/slide5.xml" Id="R44f074db16b24e75" /><Relationship Type="http://schemas.openxmlformats.org/officeDocument/2006/relationships/slide" Target="/ppt/slides/slide6.xml" Id="R9e2cac5eca3b40e8" /><Relationship Type="http://schemas.openxmlformats.org/officeDocument/2006/relationships/slide" Target="/ppt/slides/slide7.xml" Id="Racc16732ee3a4949" /><Relationship Type="http://schemas.openxmlformats.org/officeDocument/2006/relationships/slide" Target="/ppt/slides/slide8.xml" Id="R03ee8322585046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24c3feb3ea44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01f961daf24ac6" /><Relationship Type="http://schemas.openxmlformats.org/officeDocument/2006/relationships/notesMaster" Target="/ppt/notesMasters/notesMaster1.xml" Id="R2791c489c77545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0c67124cce47bc" /><Relationship Type="http://schemas.openxmlformats.org/officeDocument/2006/relationships/notesMaster" Target="/ppt/notesMasters/notesMaster1.xml" Id="R38f6223fac644d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93d395c6ae458e" /><Relationship Type="http://schemas.openxmlformats.org/officeDocument/2006/relationships/notesMaster" Target="/ppt/notesMasters/notesMaster1.xml" Id="R4a712f9e71e740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5c3ab43e6447dd" /><Relationship Type="http://schemas.openxmlformats.org/officeDocument/2006/relationships/notesMaster" Target="/ppt/notesMasters/notesMaster1.xml" Id="R6f0a529fdabc45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88b11c02604903" /><Relationship Type="http://schemas.openxmlformats.org/officeDocument/2006/relationships/notesMaster" Target="/ppt/notesMasters/notesMaster1.xml" Id="Ra0de7905394e4b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30d9133d784bbb" /><Relationship Type="http://schemas.openxmlformats.org/officeDocument/2006/relationships/notesMaster" Target="/ppt/notesMasters/notesMaster1.xml" Id="R92374345426b48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7ad53e44cd43d7" /><Relationship Type="http://schemas.openxmlformats.org/officeDocument/2006/relationships/notesMaster" Target="/ppt/notesMasters/notesMaster1.xml" Id="R9e2dd91df74b48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2c4f64abfe44bc" /><Relationship Type="http://schemas.openxmlformats.org/officeDocument/2006/relationships/notesMaster" Target="/ppt/notesMasters/notesMaster1.xml" Id="Rae1a396c673f45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Event source: https://www.pccoeigc.com/</a:t>
            </a:r>
          </a:p>
          <a:p xmlns:a="http://schemas.openxmlformats.org/drawingml/2006/main">
            <a:r>
              <a:t>Official theme and domain source: https://www.pccoeigc.com/topics</a:t>
            </a:r>
          </a:p>
          <a:p xmlns:a="http://schemas.openxmlformats.org/drawingml/2006/main">
            <a:r>
              <a:t>Project source: repository README.md and supplied Dishadharti logo.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Required content structure source: supplied sample ppt format- Indradhanu 2026.pptx.</a:t>
            </a:r>
          </a:p>
          <a:p xmlns:a="http://schemas.openxmlformats.org/drawingml/2006/main">
            <a:r>
              <a:t>Judging criteria source: https://www.pccoeigc.com/timeline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source: supplied Urban Climate Intelligence R&amp;D Framework, sections 1, 2, 8 and 11.</a:t>
            </a:r>
          </a:p>
          <a:p xmlns:a="http://schemas.openxmlformats.org/drawingml/2006/main">
            <a:r>
              <a:t>Competition domain source: https://www.pccoeigc.com/topics</a:t>
            </a:r>
          </a:p>
          <a:p xmlns:a="http://schemas.openxmlformats.org/drawingml/2006/main">
            <a:r>
              <a:t>Visual source: current repository frontend climate-map route. The displayed map is prototype UI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Objective basis: supplied R&amp;D Framework and repository backend README.md.</a:t>
            </a:r>
          </a:p>
          <a:p xmlns:a="http://schemas.openxmlformats.org/drawingml/2006/main">
            <a:r>
              <a:t>Role model source: backend/src/middleware/auth.js and backend/README.md.</a:t>
            </a:r>
          </a:p>
          <a:p xmlns:a="http://schemas.openxmlformats.org/drawingml/2006/main">
            <a:r>
              <a:t>Visual source: current repository frontend assessment-result route. Values shown are development fixture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basis: repository backend source, backend/README.md and supplied Urban Climate Intelligence R&amp;D Framework.</a:t>
            </a:r>
          </a:p>
          <a:p xmlns:a="http://schemas.openxmlformats.org/drawingml/2006/main">
            <a:r>
              <a:t>The editable diagram simplifies the full MVP architecture into the judging flow.</a:t>
            </a:r>
          </a:p>
          <a:p xmlns:a="http://schemas.openxmlformats.org/drawingml/2006/main">
            <a:r>
              <a:t>Google Earth Engine: https://earthengine.google.com/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Innovation basis: supplied R&amp;D Framework, especially score design, confidence, reassessment and LLM role.</a:t>
            </a:r>
          </a:p>
          <a:p xmlns:a="http://schemas.openxmlformats.org/drawingml/2006/main">
            <a:r>
              <a:t>Implementation basis: ml_pipeline/scorer.py, ml_pipeline/optimizer.py, backend/src/domain/scoring.js and backend/src/services/recommendationService.js.</a:t>
            </a:r>
          </a:p>
          <a:p xmlns:a="http://schemas.openxmlformats.org/drawingml/2006/main">
            <a:r>
              <a:t>Visual source: current repository frontend optimizer route. Displayed values are development fixture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Prototype metrics source: current backend source and tests. Route count includes the health route.</a:t>
            </a:r>
          </a:p>
          <a:p xmlns:a="http://schemas.openxmlformats.org/drawingml/2006/main">
            <a:r>
              <a:t>Visual source: current repository frontend dashboard route. Dashboard values are mock portfolio data, not measured deployment outcomes.</a:t>
            </a:r>
          </a:p>
          <a:p xmlns:a="http://schemas.openxmlformats.org/drawingml/2006/main">
            <a:r>
              <a:t>Scale path is a proposed roadmap, not a completed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Selection criteria source: https://www.pccoeigc.com/timeline</a:t>
            </a:r>
          </a:p>
          <a:p xmlns:a="http://schemas.openxmlformats.org/drawingml/2006/main">
            <a:r>
              <a:t>Climate domains source: https://www.pccoeigc.com/topics</a:t>
            </a:r>
          </a:p>
          <a:p xmlns:a="http://schemas.openxmlformats.org/drawingml/2006/main">
            <a:r>
              <a:t>Implementation evidence source: current repository README.md, backend/README.md, source code and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aaa9f10804e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d72cf3d3564812" /><Relationship Type="http://schemas.openxmlformats.org/officeDocument/2006/relationships/slideLayout" Target="/ppt/slideLayouts/slideLayout1.xml" Id="R5aabb581dc9e4c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abb581dc9e4c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e700a64a5428a" /><Relationship Type="http://schemas.openxmlformats.org/officeDocument/2006/relationships/image" Target="/ppt/media/image.png" Id="R89ba93cb15074c06" /><Relationship Type="http://schemas.openxmlformats.org/officeDocument/2006/relationships/notesSlide" Target="/ppt/notesSlides/notesSlide1.xml" Id="R1c1b04f857cd48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fb6ce5eb34b94" /><Relationship Type="http://schemas.openxmlformats.org/officeDocument/2006/relationships/notesSlide" Target="/ppt/notesSlides/notesSlide2.xml" Id="R48d82b619b744f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5797222ab480b" /><Relationship Type="http://schemas.openxmlformats.org/officeDocument/2006/relationships/image" Target="/ppt/media/image2.png" Id="R18c6510533a94925" /><Relationship Type="http://schemas.openxmlformats.org/officeDocument/2006/relationships/notesSlide" Target="/ppt/notesSlides/notesSlide3.xml" Id="R5880363a360d42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d90fd16684a2c" /><Relationship Type="http://schemas.openxmlformats.org/officeDocument/2006/relationships/image" Target="/ppt/media/image3.png" Id="Ra725b6957f534ff1" /><Relationship Type="http://schemas.openxmlformats.org/officeDocument/2006/relationships/notesSlide" Target="/ppt/notesSlides/notesSlide4.xml" Id="Rb3e50c33f3494a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9f6beca8c4b20" /><Relationship Type="http://schemas.openxmlformats.org/officeDocument/2006/relationships/notesSlide" Target="/ppt/notesSlides/notesSlide5.xml" Id="R257b7645206e45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e6a04977044d6" /><Relationship Type="http://schemas.openxmlformats.org/officeDocument/2006/relationships/image" Target="/ppt/media/image4.png" Id="Rf7c4c73740b44f52" /><Relationship Type="http://schemas.openxmlformats.org/officeDocument/2006/relationships/notesSlide" Target="/ppt/notesSlides/notesSlide6.xml" Id="Rdd59c6e5917e41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0a4cee2824380" /><Relationship Type="http://schemas.openxmlformats.org/officeDocument/2006/relationships/image" Target="/ppt/media/image5.png" Id="R0e04c873bd294478" /><Relationship Type="http://schemas.openxmlformats.org/officeDocument/2006/relationships/notesSlide" Target="/ppt/notesSlides/notesSlide7.xml" Id="R1b400291fa5949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59da7bf834c0e" /><Relationship Type="http://schemas.openxmlformats.org/officeDocument/2006/relationships/hyperlink" Target="https://github.com/GitWithEkam/Pune-Climate-ML" TargetMode="External" Id="R485a6a727a844b98" /><Relationship Type="http://schemas.openxmlformats.org/officeDocument/2006/relationships/notesSlide" Target="/ppt/notesSlides/notesSlide8.xml" Id="Rd34eb4c5f7954e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16241-F552-4531-B08B-E5BB23FD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48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8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76B80-7A55-417F-8145-ABDF5E3A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0"/>
            <a:ext cx="5429250" cy="648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2F90D-B94C-4B1A-9A31-4BA43B67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7B06D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D7B06D"/>
                </a:solidFill>
                <a:latin typeface="Bahnschrift"/>
                <a:ea typeface="Bahnschrift"/>
                <a:cs typeface="Bahnschrift"/>
              </a:rPr>
              <a:t>PCCOE INTERNATIONAL GRAND CHALLENGE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38DD0-F8C1-4135-9962-9D60004D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9675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49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DISHADHARTI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B5A18-893D-4002-9456-2FB28310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050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7B06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684A4-2056-4747-B56A-93FC10BB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5619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9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9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Urban Climate Intelligence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29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9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&amp; Decision Support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5F7EC-8357-4D8D-B09F-8A2B017B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909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7B06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D7B06D"/>
                </a:solidFill>
                <a:latin typeface="Bahnschrift"/>
                <a:ea typeface="Bahnschrift"/>
                <a:cs typeface="Bahnschrift"/>
              </a:rPr>
              <a:t>AI for Climate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ACB82-BDA6-4AF5-ADDD-EF70FD82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DDE7D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7DA"/>
                </a:solidFill>
                <a:latin typeface="Arial"/>
                <a:ea typeface="Arial"/>
                <a:cs typeface="Arial"/>
              </a:rPr>
              <a:t>Climate Intelligence &amp; Environmental Analytics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A51E1-D42D-4C40-AA4E-67029DD0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054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Team Dishadharti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2E4E5-2CF8-4892-B3D1-67FDB0C0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97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DE7D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DE7DA"/>
                </a:solidFill>
                <a:latin typeface="Arial"/>
                <a:ea typeface="Arial"/>
                <a:cs typeface="Arial"/>
              </a:rPr>
              <a:t>Pune, India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62B54-A15B-4B3A-BC95-ADEED686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38250"/>
            <a:ext cx="40005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6CD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a93cb15074c06"/>
          <a:stretch xmlns:a="http://schemas.openxmlformats.org/drawingml/2006/main"/>
        </p:blipFill>
        <p:spPr>
          <a:xfrm xmlns:a="http://schemas.openxmlformats.org/drawingml/2006/main">
            <a:off x="7703486" y="1428750"/>
            <a:ext cx="3509678" cy="24955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4BAC9-6CBA-4F53-AFCE-2FA4B55C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81150"/>
            <a:ext cx="6953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A13AD-7267-46F9-AB7C-2EA493A2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4820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025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A BETTER DIRECTION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025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2025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FOR A BETTER EARTH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5587E-0BCF-47BD-A59E-BA07B326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6525"/>
            <a:ext cx="12192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06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F6349-FE57-4B85-B198-108D5A6B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5627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338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3382A"/>
                </a:solidFill>
                <a:latin typeface="Bahnschrift"/>
                <a:ea typeface="Bahnschrift"/>
                <a:cs typeface="Bahnschrift"/>
              </a:rPr>
              <a:t>TEAM DISHADHARTI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F12A0-1E50-4395-8412-3ABD7AC6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43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>
                <a:solidFill>
                  <a:srgbClr val="23382A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23382A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35719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6DDB22-B889-4819-8788-1D5D2E03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DISHADHARTI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FE976-F046-40BA-BB75-B33C0CEE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81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5E6A66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E6A66"/>
                </a:solidFill>
                <a:latin typeface="Bahnschrift"/>
                <a:ea typeface="Bahnschrift"/>
                <a:cs typeface="Bahnschrift"/>
              </a:rPr>
              <a:t>PCCOE INTERNATIONAL GRAND CHALLENGE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D601E-0F02-4B16-8AA7-44756590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10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PITCH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935B2-2143-43D2-BB82-6A97A852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096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7B06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45E7D-8A82-4CFC-A2B0-0F364882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6525"/>
            <a:ext cx="12192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A4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92615-AA19-4F34-BC1B-277649DA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5627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TEAM DISHADHARTI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E526B-9278-460A-BE4E-0923F294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43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D29D4-0551-4F04-A681-A734E1EF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Eight slides built around the Stage I questions and the judging criteria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80AF4-7EC0-4A6F-AC0A-EC4C24C6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859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101CD-EA87-4D20-AB9A-6E805E7D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695450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EAF0EB"/>
          </a:solidFill>
          <a:ln xmlns:a="http://schemas.openxmlformats.org/drawingml/2006/main" w="19050">
            <a:solidFill>
              <a:srgbClr val="405A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2E5BF-DC1B-4524-9A46-772F6C88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47975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DC082-3FA9-47ED-8F01-B383DEB9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Decision gap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87557-2830-4908-ACB7-23EF0998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004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9D404-7672-447D-B3A7-A3002F65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859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D7B06D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D7B06D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4A6F8-91E7-4B56-9728-E2DC6E71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09850"/>
            <a:ext cx="1695450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4F6F0"/>
          </a:solidFill>
          <a:ln xmlns:a="http://schemas.openxmlformats.org/drawingml/2006/main" w="19050">
            <a:solidFill>
              <a:srgbClr val="D7B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2AC62-DA87-480F-91DB-82672F93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47975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Objectives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7A800-1554-4624-A3BD-437BEF0E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385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Who benefits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D5579-98E1-49D1-9E8B-4C77536C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004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5C86D4-1DFE-46F4-B42E-698C8013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859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64F09F-D8E9-444C-9014-266C90A9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9850"/>
            <a:ext cx="1695450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EAF0EB"/>
          </a:solidFill>
          <a:ln xmlns:a="http://schemas.openxmlformats.org/drawingml/2006/main" w="19050">
            <a:solidFill>
              <a:srgbClr val="405A4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B707B4-EB13-48A5-8869-739F801A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47975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Architecture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206D11-C55B-4A1F-A68E-60BF7B64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B9AC2D-74A7-4E7B-8882-627B1DAC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004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ADFD66-7C4E-4477-8174-7D9CE400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859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D7B06D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D7B06D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911A1B-4EA8-4921-88E4-680FAE34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09850"/>
            <a:ext cx="1695450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4F6F0"/>
          </a:solidFill>
          <a:ln xmlns:a="http://schemas.openxmlformats.org/drawingml/2006/main" w="19050">
            <a:solidFill>
              <a:srgbClr val="D7B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3DE16D-5068-4ED1-8966-6565C9E0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47975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Innovation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565B30-A73B-4B36-B281-ABA5CD91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Why it differs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5CB4D4-83E4-4A3D-9660-C10A5888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004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46FEA1-57C9-4640-8B71-9C238B8E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859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6D055F-D025-4124-BEEA-2208E54E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1695450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EAF0EB"/>
          </a:solidFill>
          <a:ln xmlns:a="http://schemas.openxmlformats.org/drawingml/2006/main" w="19050">
            <a:solidFill>
              <a:srgbClr val="405A4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108F0D-66B6-4EB4-BFB2-4CD25630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Outcomes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5995DE-80B1-4F53-B597-6FEB2257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385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What changes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9C7A01-1E31-4273-B9F6-62839E9A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004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E06D2F-4E72-4035-887A-81A3C9C9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0859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D7B06D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D7B06D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043A19-755F-4C0A-8515-05D73B84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09850"/>
            <a:ext cx="1695450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4F6F0"/>
          </a:solidFill>
          <a:ln xmlns:a="http://schemas.openxmlformats.org/drawingml/2006/main" w="19050">
            <a:solidFill>
              <a:srgbClr val="D7B06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F249EB-8CBC-4147-9758-CB6A2724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47975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Conclusion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2EF1D4-A5FD-4620-8BF7-0EB6EC77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Why select 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CE97F1-72B8-4556-AA9B-81865852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43425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Judges assess innovation, feasibility, clarity and climate alignment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C9698E-5F3D-49E9-855E-D416AFE3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38725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The deck connects every claim to a visible workflow, an implemented component or a stated validation need.</a:t>
            </a:r>
          </a:p>
        </p:txBody>
      </p:sp>
    </p:spTree>
    <p:extLst>
      <p:ext uri="{BB962C8B-B14F-4D97-AF65-F5344CB8AC3E}">
        <p14:creationId xmlns:p14="http://schemas.microsoft.com/office/powerpoint/2010/main" val="146935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13CF14-F6EF-4C25-9444-65A3AE9E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DISHADHARTI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A9ED0-4A77-48A4-A413-3CDE2EDD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81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5E6A66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E6A66"/>
                </a:solidFill>
                <a:latin typeface="Bahnschrift"/>
                <a:ea typeface="Bahnschrift"/>
                <a:cs typeface="Bahnschrift"/>
              </a:rPr>
              <a:t>PCCOE INTERNATIONAL GRAND CHALLENGE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750DF-468B-414E-AADE-95B7BE02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10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PROBLEM STATEMENT AND IDEA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848A0-FC11-4F11-AA4F-9CA2A57D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096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7B06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E65DF-B0C6-4E1E-B75C-E11B0C8C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6525"/>
            <a:ext cx="12192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A4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6EDDD-D321-406B-AFAC-BB526D3B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5627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TEAM DISHADHARTI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3EDB7-3206-4C1A-A2E0-86AACB2F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43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6F58F-90E1-4497-8319-359B9D0C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5619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6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325" b="1">
                <a:solidFill>
                  <a:srgbClr val="23382A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23382A"/>
                </a:solidFill>
                <a:latin typeface="Bahnschrift"/>
                <a:ea typeface="Bahnschrift"/>
                <a:cs typeface="Bahnschrift"/>
              </a:rPr>
              <a:t>Urban approvals review plans, yet climate consequences often remain fragmented or opaque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6A713-79AE-4161-A94D-D478C2A1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6670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F5220-C066-4FCE-89C0-3AC942AE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003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05A4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FB430-0D3E-47F0-9A9A-AEFEE8E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657475"/>
            <a:ext cx="3971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Fragmented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62900-A82F-45FF-B8BC-B7429AD8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96227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Satellite, terrain, weather and project data live in separate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16A6E-2EEC-4E68-8461-FBA59981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6195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D7B06D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D7B06D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C9222-822D-4FA5-B264-68A180DD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7528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B06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2FB01-409C-4A8B-B646-EF399E19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09975"/>
            <a:ext cx="3971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Late intervention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D7DDC-C601-4BAA-99C2-F7ECB8A4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91477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Teams discover heat, runoff or carbon issues after major design choices.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48CCF-9DFA-442C-8849-7EC95DD7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5720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C7A8C-BADA-4DDB-8248-B5A3DA10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7053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05A4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F5F9C-437F-40EE-8167-B73526E5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562475"/>
            <a:ext cx="3971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Unverified advice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98696A-4EE2-4CF8-95F4-F18B2D1D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867275"/>
            <a:ext cx="3971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Text recommendations rarely show which input changed or whether the score improved.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7D15D0-ECFE-4569-A229-EB94E177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00175"/>
            <a:ext cx="5495925" cy="3971925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EAF0EB"/>
          </a:solidFill>
          <a:ln xmlns:a="http://schemas.openxmlformats.org/drawingml/2006/main" w="19050">
            <a:solidFill>
              <a:srgbClr val="405A43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6510533a94925"/>
          <a:srcRect xmlns:a="http://schemas.openxmlformats.org/drawingml/2006/main" l="6404" t="0" r="64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1457325"/>
            <a:ext cx="5381625" cy="385762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DD479D-C87A-46DE-9436-5DC4BF74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467350"/>
            <a:ext cx="5572125" cy="65722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3382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1CA538-2696-480F-8855-042DC36A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007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7B06D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D7B06D"/>
                </a:solidFill>
                <a:latin typeface="Bahnschrift"/>
                <a:ea typeface="Bahnschrift"/>
                <a:cs typeface="Bahnschrift"/>
              </a:rPr>
              <a:t>THE IDEA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D5864E-B3CA-4246-A4E0-310B4DFC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5626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 pre-approval climate intelligence layer for every urban project</a:t>
            </a:r>
          </a:p>
        </p:txBody>
      </p:sp>
    </p:spTree>
    <p:extLst>
      <p:ext uri="{BB962C8B-B14F-4D97-AF65-F5344CB8AC3E}">
        <p14:creationId xmlns:p14="http://schemas.microsoft.com/office/powerpoint/2010/main" val="272951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158B6D-88E5-4785-81B4-97BE0666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DISHADHARTI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A5F5E-BFB1-4764-B2BD-1255E111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81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5E6A66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E6A66"/>
                </a:solidFill>
                <a:latin typeface="Bahnschrift"/>
                <a:ea typeface="Bahnschrift"/>
                <a:cs typeface="Bahnschrift"/>
              </a:rPr>
              <a:t>PCCOE INTERNATIONAL GRAND CHALLENGE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E5D9D-A734-437F-9141-2517C110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10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OBJECTIVES AND BENEFICIARIES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81184-4804-4D33-B472-681948EE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096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7B06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30514-C10D-4219-AD35-89413CC8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6525"/>
            <a:ext cx="12192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A4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13272-6C5E-4EFD-9A69-0668D883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5627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TEAM DISHADHARTI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36ED7-2C5A-4E11-9704-E912E27D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43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F4374-1385-459D-8989-0998BCD8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573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3382A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23382A"/>
                </a:solidFill>
                <a:latin typeface="Bahnschrift"/>
                <a:ea typeface="Bahnschrift"/>
                <a:cs typeface="Bahnschrift"/>
              </a:rPr>
              <a:t>Four objectives define the 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472F7-4CDD-4C18-B13D-ADD4F1A2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A84A7-C3AF-49D7-93D0-E96872FA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05A4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09553-7DC1-436A-B0C2-702A5060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05025"/>
            <a:ext cx="3876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Measure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481F2-12A8-44A5-AA41-48E09E8B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09825"/>
            <a:ext cx="3876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Combine project inputs with land cover, LST, elevation and climate context.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E1646-131C-4A37-ABC0-03054696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670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D7B06D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D7B06D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908B2-49A3-412F-A629-AB80649D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B06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69A9A-2242-4663-B7B7-D4EB3FB7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57525"/>
            <a:ext cx="3876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BDCD9D-63AE-4E6B-883E-092B2196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62325"/>
            <a:ext cx="3876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Expose component scores, assumptions and confidence instead of a black-box result.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6E3DC-3216-45AE-A257-23057E97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B5B2F2-9DFE-4EA3-9DEA-3F779888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05A4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62EBF-13F8-46DE-B7E8-FF853451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10025"/>
            <a:ext cx="3876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Improve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A9FDB6-58DE-4C81-8B93-3DFAFAEB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14825"/>
            <a:ext cx="3876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Translate risks into concrete design changes and recalculate the outcome.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9A4546-07B5-4E7C-BB6D-25526F52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720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D7B06D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D7B06D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BA6326-CBC3-4FD9-A60C-3843FC46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B06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558ADD-1730-4D67-9081-A9473676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62525"/>
            <a:ext cx="3876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Govern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987C49-1271-492E-89F1-D8634CE4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67325"/>
            <a:ext cx="3876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Give each role secure access to projects, reports and review notifications.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22258E-AE49-45C0-B3D8-66F5865B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381125"/>
            <a:ext cx="5943600" cy="40957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EAF0EB"/>
          </a:solidFill>
          <a:ln xmlns:a="http://schemas.openxmlformats.org/drawingml/2006/main" w="19050">
            <a:solidFill>
              <a:srgbClr val="405A43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5b6957f534ff1"/>
          <a:srcRect xmlns:a="http://schemas.openxmlformats.org/drawingml/2006/main" l="0" t="2851" r="0" b="28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95975" y="1438275"/>
            <a:ext cx="5829300" cy="3981450"/>
          </a:xfrm>
          <a:prstGeom xmlns:a="http://schemas.openxmlformats.org/drawingml/2006/main" prst="roundRect">
            <a:avLst>
              <a:gd name="adj" fmla="val 2871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4FB1C0-9DD1-4C0B-8BD0-CBCBF7E8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388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Authorities  •  Planners  •  Consultants  •  Public viewers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6A7C03-5ED5-4DD7-8A22-E79BF861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0198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Prototype screen uses fixture assessment data</a:t>
            </a:r>
          </a:p>
        </p:txBody>
      </p:sp>
    </p:spTree>
    <p:extLst>
      <p:ext uri="{BB962C8B-B14F-4D97-AF65-F5344CB8AC3E}">
        <p14:creationId xmlns:p14="http://schemas.microsoft.com/office/powerpoint/2010/main" val="4739410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706B24-3024-43B6-ACCF-B75EC35E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DISHADHARTI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7EC93-F173-46CD-A13A-215819C9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81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5E6A66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E6A66"/>
                </a:solidFill>
                <a:latin typeface="Bahnschrift"/>
                <a:ea typeface="Bahnschrift"/>
                <a:cs typeface="Bahnschrift"/>
              </a:rPr>
              <a:t>PCCOE INTERNATIONAL GRAND CHALLENGE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B6C76-4CD2-4B63-BCE5-5D3E11B9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10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PROPOSED SOLUTION AND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6676D-AAEF-4008-9CDD-AA902DFE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096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7B06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66EF2-973C-4E6E-8309-E7DA52D1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6525"/>
            <a:ext cx="12192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A4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A31C1-4C9B-458C-A076-491CF424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5627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TEAM DISHADHARTI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19404-327C-4C41-8AA2-37371C77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43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A0D14-13B6-40A3-B8D0-295FCF70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One traceable path from site evidence to a revised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4B087-1BBA-47FA-A7FB-2521C5EC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1619250" cy="1428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05A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5916C-5C81-4423-B73B-DE2ACAD3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1619250" cy="3714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05A4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FEB6E-A114-4B7F-A927-F4E63E1C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PROJECT 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791F1-82A5-4611-837C-EC6C59A0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24175"/>
            <a:ext cx="1352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54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rPr>
              <a:t>Location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rPr>
              <a:t>Plans + materials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4C068-5650-4AA1-A2CB-809829C1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33625"/>
            <a:ext cx="1619250" cy="1428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7B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6C760-2DC7-4612-877D-58F7790E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33625"/>
            <a:ext cx="1619250" cy="3714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7B06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234B6-7F30-4164-9924-97EA44BB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288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3382A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23382A"/>
                </a:solidFill>
                <a:latin typeface="Bahnschrift"/>
                <a:ea typeface="Bahnschrift"/>
                <a:cs typeface="Bahnschrift"/>
              </a:rPr>
              <a:t>SPATIAL + 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9F09B-B60F-4677-9D25-D6200A41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24175"/>
            <a:ext cx="1352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35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rPr>
              <a:t>GEE data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rPr>
              <a:t>SegFormer land cover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545E8-479F-4DFA-808F-7719D13E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1619250" cy="1428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05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BADF9-A6EF-4E39-9656-5F9BF215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1619250" cy="3714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05A4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A0623-49E0-4C0E-8162-60C38A80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288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4 MODULES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61552-D21B-4125-A254-403C9EBE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24175"/>
            <a:ext cx="1352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rPr>
              <a:t>Heat  |  Flood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rPr>
              <a:t>Green  |  Carbon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F51262-352B-4E35-A3ED-E5037E3C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1619250" cy="1428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7B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229976-F17B-47AC-94E5-C374E771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1619250" cy="3714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7B06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114ED0-316D-45A1-BAE9-0F54D8DB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288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3382A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23382A"/>
                </a:solidFill>
                <a:latin typeface="Bahnschrift"/>
                <a:ea typeface="Bahnschrift"/>
                <a:cs typeface="Bahnschrift"/>
              </a:rPr>
              <a:t>SCORE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60F508-6882-4430-9712-20E52F29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24175"/>
            <a:ext cx="1352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rPr>
              <a:t>Impact + climate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rPr>
              <a:t>Confidence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652136-09C8-4677-BCDD-C83E03A5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33625"/>
            <a:ext cx="1619250" cy="1428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05A4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44937C-92E5-4195-AE2D-2AB02147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33625"/>
            <a:ext cx="1619250" cy="3714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05A4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C14697-74B5-44F5-933C-6858D178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288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GUIDANCE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3C10F4-7043-4FF9-94A9-4538CE92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24175"/>
            <a:ext cx="1352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35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rPr>
              <a:t>Prioritized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rPr>
              <a:t>recommendations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23BA27-E3C7-4F66-9200-7D64473A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33625"/>
            <a:ext cx="1619250" cy="1428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7B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ACE950-14F4-46EC-8FC1-C32DEDF7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33625"/>
            <a:ext cx="1619250" cy="3714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7B06D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40E5D7-9CD9-44D9-BF6C-7CE1C136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288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3382A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>
                <a:solidFill>
                  <a:srgbClr val="23382A"/>
                </a:solidFill>
                <a:latin typeface="Bahnschrift"/>
                <a:ea typeface="Bahnschrift"/>
                <a:cs typeface="Bahnschrift"/>
              </a:rPr>
              <a:t>REASSESS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E0AFCB-BA05-474C-8C91-AF24EFDB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24175"/>
            <a:ext cx="1352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rPr>
              <a:t>Before / after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rPr>
              <a:t>PDF report</a:t>
            </a:r>
          </a:p>
        </p:txBody>
      </p:sp>
      <p:cxnSp>
        <p:nvCxnSpPr>
          <p:cNvPr id="85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076450" y="30480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343A"/>
            </a:solidFill>
            <a:prstDash val="solid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000500" y="30480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343A"/>
            </a:solidFill>
            <a:prstDash val="solid"/>
            <a:tailEnd type="triangle" w="sm" len="sm"/>
          </a:ln>
        </p:spPr>
      </p:cxnSp>
      <p:cxnSp>
        <p:nvCxnSpPr>
          <p:cNvPr id="87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924550" y="30480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343A"/>
            </a:solidFill>
            <a:prstDash val="solid"/>
            <a:tailEnd type="triangle" w="sm" len="sm"/>
          </a:ln>
        </p:spPr>
      </p:cxnSp>
      <p:cxnSp>
        <p:nvCxnSpPr>
          <p:cNvPr id="88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848600" y="30480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343A"/>
            </a:solidFill>
            <a:prstDash val="solid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9772650" y="30480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343A"/>
            </a:solidFill>
            <a:prstDash val="solid"/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2DD6E5-EF84-41FB-A7BB-EEA9244E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434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BACKEND FABRIC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A3A6C1-83AE-4391-BED4-BFC8AA00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86275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6CD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360A0E-3D53-44D7-ABC3-7342BA42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Express 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3B8039-69A8-40C0-A950-82A3819B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API gateway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96E4B2-398A-4CEF-8393-82477AFA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577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JWT + RBAC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8EC765-4873-4CEF-B7A0-BB07C5A9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9112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5 role profiles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622F20-FE6E-4F8B-9AB9-7A799BC2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577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PostGIS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D36375-8FD7-4C03-B4C2-989253EF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9112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Spatial records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1DC8A9-05BE-42A3-AEC7-C6EAF356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577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Redis + BullMQ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EB705F-79AC-443E-8708-30D456AD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9112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Background jobs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59C6C7-D90F-41E3-8E45-3870B11C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577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S3 / Firebase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41DDA8-EFA4-4E33-B84A-765F1D0C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9112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Private files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E58619-9853-4862-98A8-CB4EFFF2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8577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Email / SMS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234845-F28F-4B7D-BCF9-C90D2250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19112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In-app alerts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6F7166-AAD9-4FBA-A901-6231E6F7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7912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40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2338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382A"/>
                </a:solidFill>
                <a:latin typeface="Arial"/>
                <a:ea typeface="Arial"/>
                <a:cs typeface="Arial"/>
              </a:rPr>
              <a:t>Formula calculations remain deterministic. The recommendation layer interprets results and proposes parameter changes.</a:t>
            </a:r>
          </a:p>
        </p:txBody>
      </p:sp>
    </p:spTree>
    <p:extLst>
      <p:ext uri="{BB962C8B-B14F-4D97-AF65-F5344CB8AC3E}">
        <p14:creationId xmlns:p14="http://schemas.microsoft.com/office/powerpoint/2010/main" val="6078877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66FFC6-4752-4024-A8E8-D811C9FB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DISHADHARTI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04E4B-56A9-487D-8B48-785AB247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81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5E6A66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E6A66"/>
                </a:solidFill>
                <a:latin typeface="Bahnschrift"/>
                <a:ea typeface="Bahnschrift"/>
                <a:cs typeface="Bahnschrift"/>
              </a:rPr>
              <a:t>PCCOE INTERNATIONAL GRAND CHALLENGE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BC63D-253B-41E6-8994-472DB765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10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UNIQUE FEATURES AND INNOVATION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C7314-7A55-4983-A9ED-D19BE0FB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096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7B06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45B0D-505D-4D98-A33A-3787D671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6525"/>
            <a:ext cx="12192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A4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60AA4-2FBF-4A2F-AC23-C6E6D7C4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5627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TEAM DISHADHARTI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1E982-2183-4645-9A4C-3DF95184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43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134B8-BAA2-42F5-A679-DF420911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09700"/>
            <a:ext cx="6438900" cy="4286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0EB"/>
          </a:solidFill>
          <a:ln xmlns:a="http://schemas.openxmlformats.org/drawingml/2006/main" w="19050">
            <a:solidFill>
              <a:srgbClr val="405A43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4c73740b44f52"/>
          <a:srcRect xmlns:a="http://schemas.openxmlformats.org/drawingml/2006/main" l="0" t="3437" r="0" b="34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466850"/>
            <a:ext cx="6324600" cy="417195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3E272-A90D-4E9E-ABF4-8E7F993E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57325"/>
            <a:ext cx="4238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3382A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23382A"/>
                </a:solidFill>
                <a:latin typeface="Bahnschrift"/>
                <a:ea typeface="Bahnschrift"/>
                <a:cs typeface="Bahnschrift"/>
              </a:rPr>
              <a:t>What makes Dishadharti different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53422-4378-4DEA-930F-D725DE61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050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A7DB42-F8EF-4840-9785-411A8D5B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383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05A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47077-D99A-4DC3-AA64-46522284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Transparent scoring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A458A-2DEC-421D-ACE6-1199C567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Four formula modules reveal the reason behind every result.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9B95B-62E0-4DB8-BC16-D66D436A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003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D7B06D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D7B06D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F84BD-E52E-4BBF-81E4-D07765A5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3372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B06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AC7EA0-3A3E-4D5C-A782-9CD70CBB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9085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Guardrailed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38E27A-039F-46E5-A7D6-05FD8475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9565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AI explains and recommends. It never invents the climate score.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EB145-A5C1-4BB8-B2EE-557BA7D5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957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77B9C-2F32-4918-BE0A-A84147FA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290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05A4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EFD809-60A1-425E-A80B-0D5AF067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862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Verified improvement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396B74-5B9A-4232-93BF-915497A8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A recommendation changes inputs and triggers a genuine reassessment.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076161-521E-47C2-A1EC-313036CD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910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D7B06D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D7B06D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D12E85-BCBB-4855-A79C-EDE34EFC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2442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B06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53EF92-311F-4B6E-B26C-849F68CE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8155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Confidence-aware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25826C-3FEC-4387-9A02-1318901A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8635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Missing or proxy data lowers confidence instead of creating false precision.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142CEC-C75F-40E9-B198-16085C82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934075"/>
            <a:ext cx="3857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5E6A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A66"/>
                </a:solidFill>
                <a:latin typeface="Arial"/>
                <a:ea typeface="Arial"/>
                <a:cs typeface="Arial"/>
              </a:rPr>
              <a:t>Prototype screen uses fixture assessment data</a:t>
            </a:r>
          </a:p>
        </p:txBody>
      </p:sp>
    </p:spTree>
    <p:extLst>
      <p:ext uri="{BB962C8B-B14F-4D97-AF65-F5344CB8AC3E}">
        <p14:creationId xmlns:p14="http://schemas.microsoft.com/office/powerpoint/2010/main" val="15460179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183BC4-138E-4E74-BD98-1ED6F269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DISHADHARTI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06B42-C19F-46F2-890E-3AF01E34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81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5E6A66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5E6A66"/>
                </a:solidFill>
                <a:latin typeface="Bahnschrift"/>
                <a:ea typeface="Bahnschrift"/>
                <a:cs typeface="Bahnschrift"/>
              </a:rPr>
              <a:t>PCCOE INTERNATIONAL GRAND CHALLENGE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34141-1435-4B1E-8CCD-3DE7D32F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10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111817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>
                <a:solidFill>
                  <a:srgbClr val="111817"/>
                </a:solidFill>
                <a:latin typeface="Bahnschrift"/>
                <a:ea typeface="Bahnschrift"/>
                <a:cs typeface="Bahnschrift"/>
              </a:rPr>
              <a:t>EXPECTED OUTCOMES AND SCALE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C51A5-3078-47D8-AAE3-5B2749AA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096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7B06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E61F4-D2AC-499E-897E-9B94DC63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6525"/>
            <a:ext cx="12192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A4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B9B10-ED6A-4E2D-9E63-63ED5CCA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5627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TEAM DISHADHARTI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2C37A-1C2E-43BC-B63A-5EAA03DB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43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370ED-D821-4D84-9022-8225609D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573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3382A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23382A"/>
                </a:solidFill>
                <a:latin typeface="Bahnschrift"/>
                <a:ea typeface="Bahnschrift"/>
                <a:cs typeface="Bahnschrift"/>
              </a:rPr>
              <a:t>Prototype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ABF2C-8464-4319-931F-4A45D896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0502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3900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29661-2AEF-4100-B3FD-875C1145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9557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rPr>
              <a:t>API routes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94F79-A6DA-4DFE-9A49-219F8985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0502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D7B06D"/>
                </a:solidFill>
                <a:latin typeface="Bahnschrift"/>
                <a:ea typeface="Bahnschrift"/>
                <a:cs typeface="Bahnschrift"/>
              </a:defRPr>
            </a:pPr>
            <a:r>
              <a:rPr sz="3900" b="1">
                <a:solidFill>
                  <a:srgbClr val="D7B06D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38DD3-D735-454D-953D-D8CDCA88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9557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rPr>
              <a:t>automated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F61DC-E9C1-44D4-A5D0-E2FCA27B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10502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3900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172ED-3710-4F78-BAD5-61ADB168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69557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28343A"/>
                </a:solidFill>
                <a:latin typeface="Bahnschrift"/>
                <a:ea typeface="Bahnschrift"/>
                <a:cs typeface="Bahnschrift"/>
              </a:rPr>
              <a:t>file providers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92C25-0CDC-44B5-981F-B266E5B4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Near-term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93E55-2570-482A-AF8C-0C7E3C12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05225"/>
            <a:ext cx="4667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8343A"/>
                </a:solidFill>
                <a:latin typeface="Arial"/>
                <a:ea typeface="Arial"/>
                <a:cs typeface="Arial"/>
              </a:rPr>
              <a:t>Compare proposals before approval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8343A"/>
                </a:solidFill>
                <a:latin typeface="Arial"/>
                <a:ea typeface="Arial"/>
                <a:cs typeface="Arial"/>
              </a:rPr>
              <a:t>Export decision-ready reports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8343A"/>
                </a:solidFill>
                <a:latin typeface="Arial"/>
                <a:ea typeface="Arial"/>
                <a:cs typeface="Arial"/>
              </a:rPr>
              <a:t>Notify reviewers when analysis completes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F7AA93-EE94-4B74-B4AF-F0403146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1967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D7B06D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D7B06D"/>
                </a:solidFill>
                <a:latin typeface="Bahnschrift"/>
                <a:ea typeface="Bahnschrift"/>
                <a:cs typeface="Bahnschrift"/>
              </a:rPr>
              <a:t>Scale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3E2460-6DEB-4610-BFA8-9286A54F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81625"/>
            <a:ext cx="4857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8343A"/>
                </a:solidFill>
                <a:latin typeface="Arial"/>
                <a:ea typeface="Arial"/>
                <a:cs typeface="Arial"/>
              </a:rPr>
              <a:t>Pune pilot  /  multi-project portfolio  /  configurable regional factors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376B2-F686-4ABE-B08C-907ECE10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400175"/>
            <a:ext cx="5934075" cy="4210050"/>
          </a:xfrm>
          <a:prstGeom xmlns:a="http://schemas.openxmlformats.org/drawingml/2006/main" prst="roundRect">
            <a:avLst>
              <a:gd name="adj" fmla="val 3394"/>
            </a:avLst>
          </a:prstGeom>
          <a:solidFill xmlns:a="http://schemas.openxmlformats.org/drawingml/2006/main">
            <a:srgbClr val="EAF0EB"/>
          </a:solidFill>
          <a:ln xmlns:a="http://schemas.openxmlformats.org/drawingml/2006/main" w="19050">
            <a:solidFill>
              <a:srgbClr val="405A43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4c873bd294478"/>
          <a:srcRect xmlns:a="http://schemas.openxmlformats.org/drawingml/2006/main" l="0" t="127" r="0" b="1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1457325"/>
            <a:ext cx="5819775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6012DC-421C-4C89-B3F8-B852B7F9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743575"/>
            <a:ext cx="5257800" cy="4000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0E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CFC8C8-E92B-44C7-94D1-F84B896C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848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69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405A43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405A43"/>
                </a:solidFill>
                <a:latin typeface="Bahnschrift"/>
                <a:ea typeface="Bahnschrift"/>
                <a:cs typeface="Bahnschrift"/>
              </a:rPr>
              <a:t>Earlier evidence enables lower-impact design choices before construction</a:t>
            </a:r>
          </a:p>
        </p:txBody>
      </p:sp>
    </p:spTree>
    <p:extLst>
      <p:ext uri="{BB962C8B-B14F-4D97-AF65-F5344CB8AC3E}">
        <p14:creationId xmlns:p14="http://schemas.microsoft.com/office/powerpoint/2010/main" val="1617891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33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05BC5-6B1B-4D53-BB40-9B29780D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D7B06D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D7B06D"/>
                </a:solidFill>
                <a:latin typeface="Bahnschrift"/>
                <a:ea typeface="Bahnschrift"/>
                <a:cs typeface="Bahnschrift"/>
              </a:rPr>
              <a:t>DISHADHARTI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3F4A3-3524-4058-91B5-FAA165E1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DDE7DA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>
                <a:solidFill>
                  <a:srgbClr val="DDE7DA"/>
                </a:solidFill>
                <a:latin typeface="Bahnschrift"/>
                <a:ea typeface="Bahnschrift"/>
                <a:cs typeface="Bahnschrift"/>
              </a:rPr>
              <a:t>PCCOE INTERNATIONAL GRAND CHALLENGE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F0659-9086-4ACC-B272-56D13470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581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3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WHY DISHADHARTI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3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MERITS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E0BE9-DCF5-40BB-BD1D-9C480B1D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200275"/>
            <a:ext cx="119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7B06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22015-38D4-4AEB-B4A8-64FB5E7B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81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D7B06D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D7B06D"/>
                </a:solidFill>
                <a:latin typeface="Bahnschrift"/>
                <a:ea typeface="Bahnschrift"/>
                <a:cs typeface="Bahnschrift"/>
              </a:rPr>
              <a:t>INNOVATION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92E77-A6D4-4FAF-9BA3-E0339BC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1623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Satellite intelligence meets deterministic scoring and guardrailed recommendations.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B3EA5-BDEC-4C2A-B565-846C82BC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81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D7B06D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D7B06D"/>
                </a:solidFill>
                <a:latin typeface="Bahnschrift"/>
                <a:ea typeface="Bahnschrift"/>
                <a:cs typeface="Bahnschrift"/>
              </a:rPr>
              <a:t>FEASIBILITY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D8D2B-1A97-4974-A035-8DC9387E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623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working React prototype, Express backend, ML bridge and test suite already exist.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E4016-DD62-47F6-B158-BAB6BA90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267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D7B06D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D7B06D"/>
                </a:solidFill>
                <a:latin typeface="Bahnschrift"/>
                <a:ea typeface="Bahnschrift"/>
                <a:cs typeface="Bahnschrift"/>
              </a:rPr>
              <a:t>CLARITY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3C9D3-9CEF-440E-A58B-24CD3E10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6482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score exposes components, assumptions, confidence and before-after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1F3AB-B680-429D-ADCD-5C5B80FD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67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D7B06D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D7B06D"/>
                </a:solidFill>
                <a:latin typeface="Bahnschrift"/>
                <a:ea typeface="Bahnschrift"/>
                <a:cs typeface="Bahnschrift"/>
              </a:rPr>
              <a:t>CLIMATE ALIGNMENT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27389-7701-4DB6-89A1-0D4CF20A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platform supports climate risk assessment and sustainable urban development.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55BC7-85A6-4049-939A-DA6292D8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DDE7DA"/>
                </a:solidFill>
                <a:latin typeface="Bahnschrift"/>
                <a:ea typeface="Bahnschrift"/>
                <a:cs typeface="Bahnschrift"/>
              </a:defRPr>
            </a:pPr>
            <a:r>
              <a:rPr sz="2175" b="1">
                <a:solidFill>
                  <a:srgbClr val="DDE7DA"/>
                </a:solidFill>
                <a:latin typeface="Bahnschrift"/>
                <a:ea typeface="Bahnschrift"/>
                <a:cs typeface="Bahnschrift"/>
              </a:rPr>
              <a:t>Ready for Stage II prototype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3D9482-493F-430D-A9E9-F08EF008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829300"/>
            <a:ext cx="423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D7B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B06D"/>
                </a:solidFill>
                <a:latin typeface="Arial"/>
                <a:ea typeface="Arial"/>
                <a:cs typeface="Arial"/>
                <a:hlinkClick xmlns:r="http://schemas.openxmlformats.org/officeDocument/2006/relationships" r:id="R485a6a727a844b98"/>
              </a:rPr>
              <a:t>github.com/GitWithEkam/Pune-Climate-ML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2368F-2EA4-4BA6-8F32-35AD3449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6525"/>
            <a:ext cx="12192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06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183C6-BB83-4FB1-8A50-0AF77B8E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5627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23382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3382A"/>
                </a:solidFill>
                <a:latin typeface="Bahnschrift"/>
                <a:ea typeface="Bahnschrift"/>
                <a:cs typeface="Bahnschrift"/>
              </a:rPr>
              <a:t>TEAM DISHADHARTI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E041C-A48F-4C18-AE5C-C65C0052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43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>
                <a:solidFill>
                  <a:srgbClr val="23382A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>
                <a:solidFill>
                  <a:srgbClr val="23382A"/>
                </a:solidFill>
                <a:latin typeface="Bahnschrift"/>
                <a:ea typeface="Bahnschrift"/>
                <a:cs typeface="Bahnschrift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65997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2026-09-09T16:25:17.5430000Z</dcterms:created>
  <dcterms:modified xsi:type="dcterms:W3CDTF">2026-09-09T16:25:17.5430000Z</dcterms:modified>
</coreProperties>
</file>